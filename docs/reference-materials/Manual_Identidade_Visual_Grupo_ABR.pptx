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575"/>
    <a:srgbClr val="142758"/>
    <a:srgbClr val="0D1538"/>
    <a:srgbClr val="FFC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88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eel_wid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0"/>
            <a:ext cx="7391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00600" y="0"/>
            <a:ext cx="7391095" cy="6858000"/>
          </a:xfrm>
          <a:prstGeom prst="rect">
            <a:avLst/>
          </a:prstGeom>
          <a:solidFill>
            <a:srgbClr val="0D1538">
              <a:alpha val="7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645152" y="0"/>
            <a:ext cx="14630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/mnt/data/Ativo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30444"/>
            <a:ext cx="1965960" cy="11388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944" y="1968500"/>
            <a:ext cx="37947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MANUAL DE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IDENTIDADE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VISUAL</a:t>
            </a:r>
            <a:endParaRPr lang="en-US" sz="3500" dirty="0"/>
          </a:p>
        </p:txBody>
      </p:sp>
      <p:sp>
        <p:nvSpPr>
          <p:cNvPr id="7" name="Text 3"/>
          <p:cNvSpPr/>
          <p:nvPr/>
        </p:nvSpPr>
        <p:spPr>
          <a:xfrm>
            <a:off x="749808" y="40965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Versão 1.0 | 2026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9808" y="523036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FORÇA QUE SE MOVIMENTA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49808" y="5614416"/>
            <a:ext cx="1883664" cy="64008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ructure_wid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538">
              <a:alpha val="7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91640" cy="6858000"/>
          </a:xfrm>
          <a:prstGeom prst="rect">
            <a:avLst/>
          </a:prstGeom>
          <a:solidFill>
            <a:srgbClr val="142758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691640" y="0"/>
            <a:ext cx="109728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/mnt/data/Ativo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487" y="914419"/>
            <a:ext cx="1325880" cy="7680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48840" y="9144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ESSÊNCIA VISUAL DA MARCA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148840" y="1920240"/>
            <a:ext cx="7635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ESTRUTURA +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MOVIMENTO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212848" y="4343400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azul representa estrutura, confiança, indústria e solidez. O laranja representa energia, ação, logística e proximidade.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157984" y="5230368"/>
            <a:ext cx="2011680" cy="82296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2148840" y="63276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 · Grupo ABR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F5701326-21AC-57BB-7967-B9385FEA0A78}"/>
              </a:ext>
            </a:extLst>
          </p:cNvPr>
          <p:cNvSpPr/>
          <p:nvPr/>
        </p:nvSpPr>
        <p:spPr>
          <a:xfrm>
            <a:off x="9401649" y="1285666"/>
            <a:ext cx="2366679" cy="2165261"/>
          </a:xfrm>
          <a:prstGeom prst="rect">
            <a:avLst/>
          </a:prstGeom>
          <a:solidFill>
            <a:srgbClr val="253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2758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253575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CONSTRUÇÃO DA MARCA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89304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assinatura visual deve ser tratada como um conjunto, 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</a:t>
            </a: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reorganizar ou redesenhar proporções.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2302421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521876"/>
            <a:ext cx="9418320" cy="48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Descritor institucional que posiciona a </a:t>
            </a:r>
            <a:r>
              <a:rPr lang="en-US" sz="1500" dirty="0" err="1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</a:t>
            </a: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dentro</a:t>
            </a: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uma estrutura empresarial.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3143669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LINHA HORIZONTAL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363125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 de separação e organização da composição.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84917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ABR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204373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 central e principal identificador da marca.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826165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SEU PARCEIRAÇO!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5045621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verbal que aproxima a marca de seus públicos.</a:t>
            </a:r>
            <a:endParaRPr lang="en-US" sz="1500" dirty="0"/>
          </a:p>
        </p:txBody>
      </p:sp>
      <p:pic>
        <p:nvPicPr>
          <p:cNvPr id="24" name="Image 0" descr="/mnt/data/Ativo 1.png">
            <a:extLst>
              <a:ext uri="{FF2B5EF4-FFF2-40B4-BE49-F238E27FC236}">
                <a16:creationId xmlns:a16="http://schemas.microsoft.com/office/drawing/2014/main" id="{62D0A3C8-F62D-723E-D988-1BA39852A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242" y="1803382"/>
            <a:ext cx="1795766" cy="10402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142758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253575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MONOGRAMA ABR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103120" y="65214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ABR é o principal elemento de reconhecimento visual da marca.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Construção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Letras robustas, geométricas e integradas.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77977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Potencial de uso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9992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funcionar independentemente da assinatura completa.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62102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Prioridade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84048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ABR  ·  2. Grupo ABR  ·  3. Grupo ABR + assinatura.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46227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Redução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68172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Quanto menor o espaço, mais simplificada deve ser a aplicação.</a:t>
            </a:r>
            <a:endParaRPr lang="en-US" sz="1500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707D79C-6F69-5562-0055-50E8785B1D52}"/>
              </a:ext>
            </a:extLst>
          </p:cNvPr>
          <p:cNvSpPr/>
          <p:nvPr/>
        </p:nvSpPr>
        <p:spPr>
          <a:xfrm>
            <a:off x="2075689" y="5230368"/>
            <a:ext cx="6222006" cy="1207007"/>
          </a:xfrm>
          <a:prstGeom prst="rect">
            <a:avLst/>
          </a:prstGeom>
          <a:solidFill>
            <a:srgbClr val="253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63262F21-129D-35B4-CDED-64F824EC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645" y="5314465"/>
            <a:ext cx="1650793" cy="83390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DE3791BB-B059-53C5-63CD-BDD9FDAE3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933" y="5314465"/>
            <a:ext cx="1803368" cy="91097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04B80175-7AE4-5273-4BB3-C934C2219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704" y="5314465"/>
            <a:ext cx="1707885" cy="8627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ASSINATURAS DA MARCA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níveis de assinatura </a:t>
            </a: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garantem</a:t>
            </a:r>
            <a:r>
              <a:rPr lang="en-US" sz="13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leitura em diferentes formatos.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Assinatura completa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216352"/>
            <a:ext cx="5862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+ linha de apoio + ABR + Seu Parceiraço. Uso em campanhas, eventos, fachadas e apresentações.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260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Assinatura sem slogan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203904"/>
            <a:ext cx="5862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quando a versão completa prejudicar a legibilidade: documentos, cabeçalhos, fichas e rodapés.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1363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Monograma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91456"/>
            <a:ext cx="58620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flexível em avatares, favicon, WhatsApp, uniformes, EPIs, brindes, ícones e aplicações pequenas.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7">
            <a:extLst>
              <a:ext uri="{FF2B5EF4-FFF2-40B4-BE49-F238E27FC236}">
                <a16:creationId xmlns:a16="http://schemas.microsoft.com/office/drawing/2014/main" id="{94D16381-111B-0DC0-99C0-02CD4243F01C}"/>
              </a:ext>
            </a:extLst>
          </p:cNvPr>
          <p:cNvSpPr/>
          <p:nvPr/>
        </p:nvSpPr>
        <p:spPr>
          <a:xfrm>
            <a:off x="7094622" y="1417320"/>
            <a:ext cx="235305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3394F3A8-8BF7-2723-ADDC-47FD581B91DB}"/>
              </a:ext>
            </a:extLst>
          </p:cNvPr>
          <p:cNvSpPr/>
          <p:nvPr/>
        </p:nvSpPr>
        <p:spPr>
          <a:xfrm>
            <a:off x="7094622" y="1417320"/>
            <a:ext cx="2331720" cy="1051560"/>
          </a:xfrm>
          <a:prstGeom prst="rect">
            <a:avLst/>
          </a:prstGeom>
          <a:solidFill>
            <a:srgbClr val="142758"/>
          </a:solidFill>
          <a:ln w="12700">
            <a:solidFill>
              <a:schemeClr val="bg1">
                <a:alpha val="15000"/>
              </a:scheme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PALETA CROMÁTICA OFICIAL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057400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057400" y="1417320"/>
            <a:ext cx="23317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2057400" y="1417320"/>
            <a:ext cx="2331720" cy="1051560"/>
          </a:xfrm>
          <a:prstGeom prst="rect">
            <a:avLst/>
          </a:prstGeom>
          <a:solidFill>
            <a:srgbClr val="253575"/>
          </a:solidFill>
          <a:ln w="12700">
            <a:solidFill>
              <a:srgbClr val="25357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2295144" y="2670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 ABR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295144" y="3072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#253575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295144" y="3511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37 / 53 / 117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295144" y="38770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Solidez · confiança · estrutura · indústria · segurança · tecnologia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566680" y="1417320"/>
            <a:ext cx="235305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566680" y="1417320"/>
            <a:ext cx="2331720" cy="105156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841748" y="2670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 ABR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41748" y="3072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#F18800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841748" y="3511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241 / 136 / 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4424" y="38770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Energia · ação · agilidade · logística · proximidade · oportunidade</a:t>
            </a:r>
            <a:endParaRPr lang="en-US" sz="870" dirty="0"/>
          </a:p>
        </p:txBody>
      </p:sp>
      <p:sp>
        <p:nvSpPr>
          <p:cNvPr id="28" name="Text 25"/>
          <p:cNvSpPr/>
          <p:nvPr/>
        </p:nvSpPr>
        <p:spPr>
          <a:xfrm>
            <a:off x="7355226" y="2670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 PETRÓLEO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355226" y="3072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#142758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355226" y="3511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255 / 255 / 255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55226" y="38770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· respiro · áreas limpas · versões negativas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2057400" y="5005659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azul domina. O laranja conduz. O branco organiza.</a:t>
            </a:r>
            <a:endParaRPr lang="en-US" sz="15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B251978F-5C73-FB83-5FC5-0411B388F485}"/>
              </a:ext>
            </a:extLst>
          </p:cNvPr>
          <p:cNvSpPr/>
          <p:nvPr/>
        </p:nvSpPr>
        <p:spPr>
          <a:xfrm>
            <a:off x="9600080" y="1417320"/>
            <a:ext cx="235305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A6AA02D-F8F3-7008-D43C-6E9195A5048C}"/>
              </a:ext>
            </a:extLst>
          </p:cNvPr>
          <p:cNvSpPr/>
          <p:nvPr/>
        </p:nvSpPr>
        <p:spPr>
          <a:xfrm>
            <a:off x="9600080" y="1417320"/>
            <a:ext cx="2331720" cy="1051560"/>
          </a:xfrm>
          <a:prstGeom prst="rect">
            <a:avLst/>
          </a:prstGeom>
          <a:solidFill>
            <a:srgbClr val="FFCF8F"/>
          </a:solidFill>
          <a:ln w="12700">
            <a:solidFill>
              <a:schemeClr val="bg1">
                <a:alpha val="15000"/>
              </a:scheme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FCB837E5-8665-CAA6-0CBC-F6D21B8BAF98}"/>
              </a:ext>
            </a:extLst>
          </p:cNvPr>
          <p:cNvSpPr/>
          <p:nvPr/>
        </p:nvSpPr>
        <p:spPr>
          <a:xfrm>
            <a:off x="9916670" y="2670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 PÁLIDO</a:t>
            </a:r>
            <a:endParaRPr lang="en-US" sz="1600" dirty="0"/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051FF2BC-70EF-3E0C-6186-9AB91D0A7F3E}"/>
              </a:ext>
            </a:extLst>
          </p:cNvPr>
          <p:cNvSpPr/>
          <p:nvPr/>
        </p:nvSpPr>
        <p:spPr>
          <a:xfrm>
            <a:off x="9916670" y="3072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5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#FFFFFF</a:t>
            </a:r>
            <a:endParaRPr lang="en-US" sz="1700" dirty="0"/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FA8E9BF8-B8DF-D20D-CD77-9DE1A08652F6}"/>
              </a:ext>
            </a:extLst>
          </p:cNvPr>
          <p:cNvSpPr/>
          <p:nvPr/>
        </p:nvSpPr>
        <p:spPr>
          <a:xfrm>
            <a:off x="9916670" y="3511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 255 / 255 / 255</a:t>
            </a:r>
            <a:endParaRPr lang="en-US" sz="1000" dirty="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22088D8B-85D1-2492-341B-60EAA51A129B}"/>
              </a:ext>
            </a:extLst>
          </p:cNvPr>
          <p:cNvSpPr/>
          <p:nvPr/>
        </p:nvSpPr>
        <p:spPr>
          <a:xfrm>
            <a:off x="9860684" y="38770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· respiro · áreas limpas · versões negativas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PROPORÇÃO CROMÁTICA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é estrutura. Laranja é ação. Branco é respiro.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Diretriz visual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azul deve ocupar a maior parte da identidade; o laranja deve pontuar.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260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Proporção orientativa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455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60–80% azul, 10–20% laranja e áreas restantes em branco/neutros.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1363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Objetivo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3308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que a comunicação fique predominantemente promocional.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GRAFISMO ABR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curva laranja é um elemento gráfico proprietário, não apenas um detalhe do logotipo.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Função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Transmitir movimento, continuidade e direção.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260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Aplicações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455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Barras, faixas, separadores, molduras, fundos, transições, sinalização e materiais digitais.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1363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Assinatura secundária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3308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reforçar reconhecimento mesmo quando o logotipo não está em destaque.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SISTEMA DE FORMAS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sistema gráfico combina indústria, precisão e proximidade.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Geometria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 indústria, precisão e engenharia.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77977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Retas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9992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Representam estrutura, organização e estabilidade.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62102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Curvas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84048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Representam movimento, logística e proximidade.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46227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Equilíbrio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68172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 que a identidade fique excessivamente rígida.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DIREÇÃO VISUAL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850" dirty="0"/>
          </a:p>
        </p:txBody>
      </p:sp>
      <p:pic>
        <p:nvPicPr>
          <p:cNvPr id="14" name="Image 1" descr="/mnt/data/warehouse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25296"/>
            <a:ext cx="618134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marca deve ocupar um território entre indústria e relacionamento.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Buscar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5688" y="2206624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Estética industrial, moderna, limpa, robusta e humana.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8529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Evitar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121024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 genérica de material de construção, distribuidora tradicional sem diferenciação, comunicação complicada ou tecnológica demais.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Território visual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75688" y="4035424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Indústria + relacionamento: técnica com proximidade.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CONTRASTE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identidade depende de contraste forte para manter leitura e reconhecimento.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Preferencial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ABR + branco; azul ABR + laranja; laranja ABR + branco.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260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Evitar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455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Laranja em fundos complexos, azul em imagens escuras sem proteção e branco sem contraste.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1363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Cuidado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3308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misturar cores externas à paleta sem critério.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FUNDOS FOTOGRÁFICOS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850" dirty="0"/>
          </a:p>
        </p:txBody>
      </p:sp>
      <p:pic>
        <p:nvPicPr>
          <p:cNvPr id="14" name="Image 1" descr="/mnt/data/steel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25296"/>
            <a:ext cx="7086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marca nunca deve disputar atenção com o fundo.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Proteção de leitura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65960" y="214825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Criar área limpa para preservar contraste da logo.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8529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Recursos permitidos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14048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Área azul, tarja institucional, box, gradiente de proteção ou área negativa da fotografia.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Princípio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75688" y="405488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Fotografia valoriza a operação, mas a marca precisa permanecer legível.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FOTOGRAFIA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50" dirty="0"/>
          </a:p>
        </p:txBody>
      </p:sp>
      <p:pic>
        <p:nvPicPr>
          <p:cNvPr id="14" name="Image 1" descr="/mnt/data/logistics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25296"/>
            <a:ext cx="7086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fotografia do Grupo ABR deve mostrar a empresa em ação.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Priorizar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46504" y="234281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Produtos, estoque, fábrica, corte, dobra, produção, carregamento, caminhões, entregas, obras, estruturas, colaboradores, clientes e atendimento.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979392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Direção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46504" y="3198848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Privilegiar escala, textura, profundidade e ação.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Mensagem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46504" y="393815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aço deve aparecer como parte de uma operação real.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TEXTURA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850" dirty="0"/>
          </a:p>
        </p:txBody>
      </p:sp>
      <p:pic>
        <p:nvPicPr>
          <p:cNvPr id="14" name="Image 1" descr="/mnt/data/steel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44752"/>
            <a:ext cx="7086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Texturas do universo do aço funcionam como elementos secundários de comunicação.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Exemplos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5688" y="222608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Chapa, metal, perfis, estruturas, solda, linhas industriais e superfícies metálicas.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8529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Uso correto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052928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Complementar a comunicação sem prejudicar a leitura.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Papel visual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75688" y="4015968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Adicionar profundidade, robustez e contexto industrial.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TIPOGRAFIA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tipografia editorial deve acompanhar a geometria da marca.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Famílias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22608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Nexa para títulos, chamadas e números. Montserrat para subtítulos, textos, dados e especificações.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76148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Títulos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9420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Peso Bold ou Semibold, com escala e impacto.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58444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Subtítulos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78444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ou Semibold, com função de organização.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4074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Corpo e dados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58795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 ou Medium, sempre com legibilidade.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HIERARQUIA VISUAL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7008779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peça deve responder rapidamente: o que é, por que importa e o que devo fazer?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01. Mensagem principal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Grande, objetiva e direta.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61518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02. Informação de apoio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83464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Explica ou contextualiza.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29184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03. Produto ou imagem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51129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 a solução.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396849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04. CTA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18795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 a ação.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057400" y="464515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05. Marca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075688" y="486460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 a identificação.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COMUNICAÇÃO COMERCIAL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850" dirty="0"/>
          </a:p>
        </p:txBody>
      </p:sp>
      <p:pic>
        <p:nvPicPr>
          <p:cNvPr id="14" name="Image 1" descr="/mnt/data/warehouse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25296"/>
            <a:ext cx="7086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ABR não deve competir apenas por preço.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Valor comunicado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5688" y="221635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Disponibilidade, qualidade, agilidade, variedade, precisão, logística, atendimento e capacidade operacional.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8529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Preço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0821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ser argumento, mas não deve ser a identidade da marca.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Posicionamento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75688" y="39965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Vender solução e confiança, não apenas desconto.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COMUNICAÇÃO TÉCNICA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Conhecimento técnico sem comunicação complicada.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Princípio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Autoridade técnica deve ser visualmente acessível.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Tabelas e medidas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 ter hierarquia, espaçamento, contraste, organização e padronização.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Resultado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Informação técnica clara, útil e rápida de interpretar.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REDES SOCIAIS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redes sociais devem manter reconhecimento imediato.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Base visual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ABR + branco + laranja ABR.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Função do laranja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Conduzir o olhar em títulos, números, botões, selos, chamadas e destaques.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Consistência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Mesmo formatos diferentes precisam parecer parte do mesmo sistema.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LINGUAGEM VISUAL PARA CONTEÚDO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Diferentes tipos de conteúdo podem coexistir sem parecerem marcas diferentes.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Institucional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Maior quantidade de azul e branco.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443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Comercial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63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aumentar a presença do laranja.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502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Técnico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6966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branco, azul e grafite; laranja apenas para destacar.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FROTA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850" dirty="0"/>
          </a:p>
        </p:txBody>
      </p:sp>
      <p:pic>
        <p:nvPicPr>
          <p:cNvPr id="14" name="Image 1" descr="/mnt/data/logistics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25296"/>
            <a:ext cx="6872591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frota deve explorar o reconhecimento à distância.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Prioridade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5688" y="2157984"/>
            <a:ext cx="68725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 grande, depois Grupo ABR, depois Seu Parceiraço.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8529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Informações secundárias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072384"/>
            <a:ext cx="68725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 ser reduzidas ao mínimo necessário.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Objetivo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85416" y="4074336"/>
            <a:ext cx="68725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lateral do caminhão deve funcionar como uma grande assinatura móvel da empresa.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UNIFORMES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uniforme operacional deve priorizar identificação, segurança, conforto e consistência.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Combinações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ABR + branco; azul ABR + laranja; cinza + azul ABR; branco + azul ABR.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Aplicação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monograma deve ser priorizado para bordados e aplicações pequenas.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Resultado esperado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Legibilidade e reconhecimento sem comprometer função e segurança.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EPIS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monograma ABR é recomendado para aplicações reduzidas.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Preservar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Contraste, legibilidade, integridade da marca e requisitos de segurança.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443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Áreas maiores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63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assinatura completa pode ser utilizada quando houver espaço suficiente.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502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Critério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6966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 e leitura vêm antes do excesso de informação.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FACHADAS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fachada deve privilegiar reconhecimento.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Prioridade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ABR, seguido pela identificação da unidade quando necessário.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443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63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azul pode funcionar como elemento predominante.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502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Destaque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6966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laranja pode aparecer como elemento arquitetônico ou faixa de destaque.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SINALIZAÇÃO INTERNA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sinalização deve possuir função prática e ser objetiva.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e organização.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443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Branco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6382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e clareza.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502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6966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Alertas, direcionamento e destaques.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MATERIAIS COMERCIAIS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identidade deve permanecer reconhecível em documentos e peças comerciais.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Aplicações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Orçamentos, propostas, catálogos, tabelas, apresentações, folders, fichas técnicas e materiais promocionais.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Marca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 aparecer de forma consistente, mas não precisa ocupar grandes áreas em todos os documentos.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Critério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Reconhecimento com organização e sobriedade.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EVENTOS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850" dirty="0"/>
          </a:p>
        </p:txBody>
      </p:sp>
      <p:pic>
        <p:nvPicPr>
          <p:cNvPr id="14" name="Image 1" descr="/mnt/data/structure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225296"/>
            <a:ext cx="7086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permitem uma utilização mais expressiva do sistema visual.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1938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Protagonismo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5688" y="2157984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conceito Seu Parceiraço! pode assumir mais destaque.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8529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Sistema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14048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fornece estrutura; laranja fornece energia; fotografias mostram a realidade; monograma reforça reconhecimento.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673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Tom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75688" y="394787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presença e energia sem perder a força institucional.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USOS INCORRETOS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marca deve preservar proporção, cor, contraste e integridade.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Não alterar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Proporções, cores oficiais, tipografia, organização ou desenho da marca.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76148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Não aplicar efeitos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98094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Sombras, brilhos, bevel, 3D, contornos, distorções ou inclinações.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58444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Não comprometer leitura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80390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fundos sem contraste, versões de baixa qualidade e uso parcial do monograma.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4074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Não recriar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62686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Utilizar apenas arquivos oficiais da marca.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PRINCÍPIO DE REDUÇÃO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a área disponível diminuir, a identidade deve simplificar.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Grande formato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completa.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77977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Médio formato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9992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sem slogan.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62102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Pequeno formato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84048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Monograma ABR.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46227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Objetivo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68172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Manter reconhecimento em diferentes escalas.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PRINCÍPIO DE MOVIMENTO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laranja deve ser utilizado como elemento de condução visual.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Função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Sublinhar, apontar, separar, destacar, enquadrar e criar direção.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9260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Regra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1455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função do laranja não é simplesmente colorir.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91363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Objetivo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413308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Conduzir o olhar e sinalizar ação.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PRINCÍPIO DE SOLIDEZ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azul deve funcionar como a base da comunicação.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Grandes superfícies azuis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Representam institucionalidade, confiança, estrutura e escala.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Estabilidade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Mantém a identidade visual estável mesmo quando fotografias, campanhas e conteúdos mudam.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Papel visual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Construir a percepção de empresa sólida e confiável.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MATRIZ DE APLICAÇÃO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057400" y="1417320"/>
            <a:ext cx="7178040" cy="475488"/>
          </a:xfrm>
          <a:prstGeom prst="rect">
            <a:avLst/>
          </a:prstGeom>
          <a:solidFill>
            <a:srgbClr val="253575"/>
          </a:solidFill>
          <a:ln w="12700">
            <a:solidFill>
              <a:srgbClr val="2535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121408" y="156362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Contexto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270248" y="1563624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Azul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13248" y="1563624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Laranja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39128" y="1563624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Branco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882128" y="1563624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Fotografia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2057400" y="1911096"/>
            <a:ext cx="7178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2121408" y="2048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Institucional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270248" y="204825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13248" y="2048256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739128" y="204825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882128" y="204825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057400" y="2350008"/>
            <a:ext cx="7178040" cy="43891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27" name="Text 24"/>
          <p:cNvSpPr/>
          <p:nvPr/>
        </p:nvSpPr>
        <p:spPr>
          <a:xfrm>
            <a:off x="2121408" y="2487168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Comercial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270248" y="248716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413248" y="2487168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739128" y="248716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882128" y="248716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057400" y="2788920"/>
            <a:ext cx="7178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33" name="Text 30"/>
          <p:cNvSpPr/>
          <p:nvPr/>
        </p:nvSpPr>
        <p:spPr>
          <a:xfrm>
            <a:off x="2121408" y="2926080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Técnico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70248" y="292608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413248" y="292608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Baixo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739128" y="292608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882128" y="292608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057400" y="3227832"/>
            <a:ext cx="7178040" cy="43891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39" name="Text 36"/>
          <p:cNvSpPr/>
          <p:nvPr/>
        </p:nvSpPr>
        <p:spPr>
          <a:xfrm>
            <a:off x="2121408" y="3364992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Redes sociais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270248" y="3364992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413248" y="336499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Médio/alto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739128" y="3364992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882128" y="3364992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2057400" y="3666744"/>
            <a:ext cx="7178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45" name="Text 42"/>
          <p:cNvSpPr/>
          <p:nvPr/>
        </p:nvSpPr>
        <p:spPr>
          <a:xfrm>
            <a:off x="2121408" y="380390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Frota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4270248" y="3803904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5413248" y="3803904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6739128" y="3803904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7882128" y="3803904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2057400" y="4105656"/>
            <a:ext cx="7178040" cy="43891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51" name="Text 48"/>
          <p:cNvSpPr/>
          <p:nvPr/>
        </p:nvSpPr>
        <p:spPr>
          <a:xfrm>
            <a:off x="2121408" y="424281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Eventos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4270248" y="424281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5413248" y="4242816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6739128" y="4242816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7882128" y="4242816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2057400" y="4544568"/>
            <a:ext cx="7178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57" name="Text 54"/>
          <p:cNvSpPr/>
          <p:nvPr/>
        </p:nvSpPr>
        <p:spPr>
          <a:xfrm>
            <a:off x="2121408" y="4681728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Documentos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4270248" y="468172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5413248" y="4681728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Baixo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6739128" y="4681728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7882128" y="468172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Baixo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2057400" y="4983480"/>
            <a:ext cx="7178040" cy="438912"/>
          </a:xfrm>
          <a:prstGeom prst="rect">
            <a:avLst/>
          </a:prstGeom>
          <a:solidFill>
            <a:srgbClr val="EEF1F6"/>
          </a:solidFill>
          <a:ln w="12700">
            <a:solidFill>
              <a:srgbClr val="EEF1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500"/>
          </a:p>
        </p:txBody>
      </p:sp>
      <p:sp>
        <p:nvSpPr>
          <p:cNvPr id="63" name="Text 60"/>
          <p:cNvSpPr/>
          <p:nvPr/>
        </p:nvSpPr>
        <p:spPr>
          <a:xfrm>
            <a:off x="2121408" y="5120640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Sinalização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4270248" y="512064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65" name="Text 62"/>
          <p:cNvSpPr/>
          <p:nvPr/>
        </p:nvSpPr>
        <p:spPr>
          <a:xfrm>
            <a:off x="5413248" y="512064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Médio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6739128" y="512064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7882128" y="512064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Baixo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2103120" y="5759849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variação de intensidade mantém consistência sem engessar todos os materiais.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ASSINATURA VERBAL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“Seu Parceiraço!” deve ser tratado como propriedade verbal da marca.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Função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Traduz proximidade de maneira informal e memorável.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Evitar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utilizar em documentos jurídicos, contratos e comunicações excessivamente formais.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Alternativa institucional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“Seu Parceiro de Aço”, quando oficialmente aprovado para esse contexto.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2535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 QUE A MARCA DEVE FAZER O CLIENTE SENTIR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850" dirty="0"/>
          </a:p>
        </p:txBody>
      </p:sp>
      <p:pic>
        <p:nvPicPr>
          <p:cNvPr id="14" name="Image 1" descr="/mnt/data/warehouse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0"/>
            <a:ext cx="2697480" cy="6858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491472" y="0"/>
            <a:ext cx="2697480" cy="6858000"/>
          </a:xfrm>
          <a:prstGeom prst="rect">
            <a:avLst/>
          </a:prstGeom>
          <a:solidFill>
            <a:srgbClr val="253575">
              <a:alpha val="6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491472" y="0"/>
            <a:ext cx="73152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2057400" y="1351758"/>
            <a:ext cx="7086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identidade visual precisa construir confiança antes mesmo da negociação.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57400" y="2064990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Estrutura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5688" y="228444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“Essa empresa tem estrutura.”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057400" y="290623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Autoridade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075688" y="3125694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“Essa empresa entende do que está fazendo.”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057400" y="3747486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Entrega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075688" y="396694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“Essa empresa consegue entregar.”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2057400" y="4588734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Proximidade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075688" y="4808190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“Essa empresa está próxima de mim.”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DIRETRIZ-MESTRA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comunicação deve equilibrar quatro atributos.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Força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empresa possui estrutura.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5786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Precisão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77860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empresa domina seu produto e sua operação.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21868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Agilidade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41868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empresa se movimenta.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385876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Parceria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0587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empresa está próxima do cliente.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057400" y="449884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Tradução visual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075688" y="478640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+ geometria = força e precisão. Laranja + curva = agilidade. Fotografia + pessoas = parceria.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RESUMO DA IDENTIDADE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síntese do território visual e verbal do Grupo ABR.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Território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Aço, indústria, construção e logística.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72491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Personalidade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9443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Robusta, confiável, parceira, inovadora e acessível.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51129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Sistema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73075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Azul #253575, laranja #F18800, curva/faixa laranja, monograma ABR.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29768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Promessa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5171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Entregar soluções em aço com segurança, agilidade e proximidade.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istics_wid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58">
              <a:alpha val="7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91640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691640" y="0"/>
            <a:ext cx="109728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/mnt/data/Ativo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28" y="724579"/>
            <a:ext cx="1325880" cy="7680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8840" y="640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37. MANIFESTO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148840" y="9144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FRASE-CONCEITO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148840" y="1920240"/>
            <a:ext cx="7635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FORÇA PARA CONSTRUIR.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AGILIDADE PARA ENTREGAR.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PARCERIA PARA CRESCER.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212848" y="4343400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ABR — Seu Parceiraço!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157984" y="5230368"/>
            <a:ext cx="2011680" cy="82296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2148840" y="63276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 · Grupo ABR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142758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CONTROLE DA IDENTIDADE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64208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arquivos oficiais devem ser mantidos em biblioteca única, organizada por finalidade.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57400" y="197744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01_LOGO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 completa, sem slogan, monograma, positiva, negativa e monocromática.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654096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02_CORES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75688" y="283464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Paleta digital, impressão e referências técnicas.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330752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03_TIPOGRAFIA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075688" y="351129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 institucionais e fontes de apoio.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57400" y="400740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04_GRAFISMOS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5688" y="418795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Curva ABR, elementos geométricos e padrões.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057400" y="4684064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05_APLICAÇÕES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075688" y="486460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Frota, uniformes, EPIs, fachadas, papelaria, redes sociais e materiais comerciais.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64208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664208" y="0"/>
            <a:ext cx="100584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2880" y="228600"/>
            <a:ext cx="1042416" cy="109728"/>
          </a:xfrm>
          <a:prstGeom prst="rect">
            <a:avLst/>
          </a:prstGeom>
          <a:solidFill>
            <a:srgbClr val="34446F">
              <a:alpha val="95000"/>
            </a:srgbClr>
          </a:solidFill>
          <a:ln w="12700">
            <a:solidFill>
              <a:srgbClr val="3444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93192" y="420624"/>
            <a:ext cx="1005840" cy="4572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925362"/>
            <a:ext cx="1078992" cy="625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5303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OBSERVAÇÃO TÉCNICA SOBRE AS CORES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057400" y="1078992"/>
            <a:ext cx="1024128" cy="73152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993392" y="647395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5B6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001268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GRUPO ABR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1228832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7400" y="1225296"/>
            <a:ext cx="94183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códigos digitais foram extraídos da marca fornecida, mas produção gráfica exige validação.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057400" y="19385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RGB/HEX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075688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Referências digitais principais: #253575 e #F18800.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2852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CMYK, Pantone e RAL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075688" y="30723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 ser validados por prova física e padrão de impressão.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057400" y="37673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3575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Objetivo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075688" y="39867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que conversão automática seja tratada como cor oficial de impressão.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ructure_wid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575">
              <a:alpha val="72000"/>
            </a:srgbClr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91640" cy="6858000"/>
          </a:xfrm>
          <a:prstGeom prst="rect">
            <a:avLst/>
          </a:prstGeom>
          <a:solidFill>
            <a:srgbClr val="253575"/>
          </a:solidFill>
          <a:ln w="12700">
            <a:solidFill>
              <a:srgbClr val="0D15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691640" y="0"/>
            <a:ext cx="109728" cy="6858000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/mnt/data/Ativo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00" y="384110"/>
            <a:ext cx="1325880" cy="7680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8840" y="640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18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40. ESSÊNCIA FINAL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148840" y="9144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ENCERRAMENTO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148840" y="1920240"/>
            <a:ext cx="7635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FIRME, ESTRUTURADA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E CONFIÁVEL.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exa" pitchFamily="34" charset="0"/>
                <a:ea typeface="Nexa" pitchFamily="34" charset="-122"/>
                <a:cs typeface="Nexa" pitchFamily="34" charset="-120"/>
              </a:rPr>
              <a:t>MAS NÃO ESTÁTICA.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212848" y="4343400"/>
            <a:ext cx="6217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ABR transforma, movimenta, entrega e constrói relações.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157984" y="5230368"/>
            <a:ext cx="2011680" cy="82296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2148840" y="63276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 · Grupo ABR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53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0176"/>
            <a:ext cx="12191695" cy="877824"/>
          </a:xfrm>
          <a:prstGeom prst="rect">
            <a:avLst/>
          </a:prstGeom>
          <a:solidFill>
            <a:srgbClr val="F18800"/>
          </a:solidFill>
          <a:ln w="12700">
            <a:solidFill>
              <a:srgbClr val="F18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mnt/data/Ativo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057589"/>
            <a:ext cx="4069080" cy="23571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0" y="63276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de Identidade Visual · Versão 1.0 |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x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2444</Words>
  <Application>Microsoft Office PowerPoint</Application>
  <PresentationFormat>Widescreen</PresentationFormat>
  <Paragraphs>541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5" baseType="lpstr">
      <vt:lpstr>Arial</vt:lpstr>
      <vt:lpstr>Montserrat</vt:lpstr>
      <vt:lpstr>Nexa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Grupo ABR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Identidade Visual — Grupo ABR</dc:title>
  <dc:subject>Manual de Identidade Visual</dc:subject>
  <dc:creator>Grupo ABR</dc:creator>
  <cp:lastModifiedBy>Thiago Almeida</cp:lastModifiedBy>
  <cp:revision>2</cp:revision>
  <dcterms:created xsi:type="dcterms:W3CDTF">2026-08-14T18:07:12Z</dcterms:created>
  <dcterms:modified xsi:type="dcterms:W3CDTF">2026-08-14T19:40:12Z</dcterms:modified>
</cp:coreProperties>
</file>